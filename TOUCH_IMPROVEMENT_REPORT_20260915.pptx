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731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DC3E6"/>
                </a:solidFill>
                <a:latin typeface="Malgun Gothic"/>
              </a:rPr>
              <a:t>HAIR-BRUSH  터치 센싱(Touch ADC) 개선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Malgun Gothic"/>
              </a:rPr>
              <a:t>제너 다이오드 누설전류로 인한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Malgun Gothic"/>
              </a:rPr>
              <a:t>터치 오동작 원인 분석 및 개선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9C6D6"/>
                </a:solidFill>
                <a:latin typeface="Malgun Gothic"/>
              </a:rPr>
              <a:t>P_Wistec_HairBrush_V10  |  NUC029xAN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BAD"/>
                </a:solidFill>
                <a:latin typeface="Malgun Gothic"/>
              </a:rPr>
              <a:t>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E8093"/>
                </a:solidFill>
                <a:latin typeface="Malgun Gothic"/>
              </a:rPr>
              <a:t>내부 개발 보고 / 외부 공유용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요약 (Executive Summary)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2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현상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11155680" cy="86868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0136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333A42"/>
                </a:solidFill>
                <a:latin typeface="Malgun Gothic"/>
              </a:rPr>
              <a:t>터치패드를 터치해도 모터가 켜지지 않거나(미검출), 반대로 터치하지 않아도 모터가 켜지는(오검출) 현상이 간헐적으로 발생 — 펌웨어 디버깅과 하드웨어(회로) 분석을 병행하여 근본 원인을 규명하고 단계적으로 개선함.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핵심 원인 3가지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546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54680"/>
            <a:ext cx="361188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① 보호소자 누설전류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36E"/>
                </a:solidFill>
                <a:latin typeface="Malgun Gothic"/>
              </a:rPr>
              <a:t>ESD 보호용 제너(DZ11)가 8.2MΩ 고임피던스 터치 노드에서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36E"/>
                </a:solidFill>
                <a:latin typeface="Malgun Gothic"/>
              </a:rPr>
              <a:t>무시 못할 누설전류를 흘려 신호 동적범위를 압축시킴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1546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3154680"/>
            <a:ext cx="3611880" cy="73152"/>
          </a:xfrm>
          <a:prstGeom prst="rect">
            <a:avLst/>
          </a:prstGeom>
          <a:solidFill>
            <a:srgbClr val="C78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31012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② ADC 정착시간 부족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70332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36E"/>
                </a:solidFill>
                <a:latin typeface="Malgun Gothic"/>
              </a:rPr>
              <a:t>연속스캔 라운드로빈 구조상, 고임피던스 채널의 ADC S/H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36E"/>
                </a:solidFill>
                <a:latin typeface="Malgun Gothic"/>
              </a:rPr>
              <a:t>커패시터가 짧은 샘플링 시간 안에 충분히 충전되지 못함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1546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3154680"/>
            <a:ext cx="3611880" cy="73152"/>
          </a:xfrm>
          <a:prstGeom prst="rect">
            <a:avLst/>
          </a:prstGeom>
          <a:solidFill>
            <a:srgbClr val="C78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310128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③ 디바운스 로직 한계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703320"/>
            <a:ext cx="3246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36E"/>
                </a:solidFill>
                <a:latin typeface="Malgun Gothic"/>
              </a:rPr>
              <a:t>"연속 N샘플" 방식이 실제로는 짧게 끊기는 접촉 패턴을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A636E"/>
                </a:solidFill>
                <a:latin typeface="Malgun Gothic"/>
              </a:rPr>
              <a:t>놓치는 구조적 약점을 가지고 있었음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결과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212080"/>
            <a:ext cx="11155680" cy="1051560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321808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33A42"/>
                </a:solidFill>
                <a:latin typeface="Malgun Gothic"/>
              </a:rPr>
              <a:t>소프트웨어 4건(ADC 정착시간 보정, 임계값 실측 재조정, 파워온 안전잠금 버그 수정, 디바운스 알고리즘 개선) 적용 완료.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333A42"/>
                </a:solidFill>
                <a:latin typeface="Malgun Gothic"/>
              </a:rPr>
              <a:t>보호소자 교체 검토 결과 및 다른 프로젝트 이식 가이드 포함.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BEFORE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기존 구조 및 발견된 버그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3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기존 터치 판정 로직 (task_MotorCtrl)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5669280" cy="27432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static uint32_t rTouchChattering = 9;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task_ADC0_Touch();                 // 매 1ms 블로킹 단발변환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rTouchADC = i32ConversionData[0];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if (rTouchADC &gt; 4095*2.0/5)        // &gt; 2V : Not Connect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if (++rTouchChattering &gt; 12) { rTouchChattering=10; F_MOTOR_ON=FALSE; }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else if (rTouchADC &gt; 4095*1.0/5)   // 1V~2V  ← 아무 동작 없음(데드존!)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else                                // &lt; 1V : Connect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if (--rTouchChattering == 0) { rTouchChattering=5; F_MOTOR_ON=TRUE; }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구조적 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257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터치 체크 전용 윈도우 없이 매 1ms 항상 ADC 변환 — OUT1/OUT2 스위칭 노이즈와 겹침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C0392B"/>
                </a:solidFill>
                <a:latin typeface="Malgun Gothic"/>
              </a:rPr>
              <a:t>1V~2V 구간이 빈 블록(dead zone) — 실측 미터치 전압이 이 구간에 들어가면</a:t>
            </a:r>
          </a:p>
          <a:p>
            <a:pPr marL="457200" indent="-177800">
              <a:lnSpc>
                <a:spcPct val="115000"/>
              </a:lnSpc>
              <a:spcAft>
                <a:spcPts val="800"/>
              </a:spcAft>
              <a:buClr>
                <a:srgbClr val="8A93A0"/>
              </a:buClr>
              <a:buFont typeface="Arial"/>
              <a:buChar char="·"/>
            </a:pPr>
            <a:r>
              <a:rPr sz="1250" b="0">
                <a:solidFill>
                  <a:srgbClr val="C0392B"/>
                </a:solidFill>
                <a:latin typeface="Malgun Gothic"/>
              </a:rPr>
              <a:t>F_MOTOR_ON이 영원히 FALSE로 안 바뀌는 실제 버그 (2026-09-08 확인)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ADC 정착시간/프로브 부하 문제 미고려 — 실제 전압과 판독값 괴리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디바운스가 연속 카운트 방식 → 접촉이 끊기면 진행분이 리셋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진단용 로그/캡처 수단 없음 — 문제 재현·분석이 어려움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617720"/>
            <a:ext cx="11155680" cy="146304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B46"/>
                </a:solidFill>
                <a:latin typeface="Malgun Gothic"/>
              </a:rPr>
              <a:t>실측으로 확인된 증상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250" b="1">
                <a:solidFill>
                  <a:srgbClr val="333A42"/>
                </a:solidFill>
                <a:latin typeface="Malgun Gothic"/>
              </a:rPr>
              <a:t>미터치 상태 실측 전압이 1.65~1.69V로 데드존(1~2V) 안에 위치 → 손을 떼도 모터가 안 꺼짐(2026-09-08 로직분석 재현)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250" b="1">
                <a:solidFill>
                  <a:srgbClr val="333A42"/>
                </a:solidFill>
                <a:latin typeface="Malgun Gothic"/>
              </a:rPr>
              <a:t>터치 시 전압이 20Hz(50ms) 모터 스위칭 노이즈에 절어 요동 — 미터치/터치 판정 자체가 어려운 구간 존재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ROOT CAUSE 1 / HW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하드웨어 원인 — 보호소자(DZ11) 누설전류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4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TOUCH_ADC 회로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00" cy="14173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5V ─ R13(8.2M) ─ 노드A(TOUCH) ─ R12(10K) ─ 노드B ─ R11(1K) ─ MCU(P1.0)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                                    │</a:t>
            </a:r>
          </a:p>
          <a:p>
            <a:pPr>
              <a:lnSpc>
                <a:spcPct val="110000"/>
              </a:lnSpc>
            </a:pPr>
            <a:r>
              <a:rPr sz="1300">
                <a:solidFill>
                  <a:srgbClr val="D4D4D4"/>
                </a:solidFill>
                <a:latin typeface="Consolas"/>
              </a:rPr>
              <a:t>                                    DZ11(제너, 5.1V) ── GND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5486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0">
                <a:solidFill>
                  <a:srgbClr val="333A42"/>
                </a:solidFill>
                <a:latin typeface="Malgun Gothic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91840"/>
            <a:ext cx="5486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R13이 8.2MΩ로 매우 높아, 아주 작은 누설전류도 큰 전압오차를 만드는 구조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DZ11은 항복전압(5.1V) '이하'에서도 완전히 0이 아닌 역방향 누설전류를 흘림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C78A0A"/>
                </a:solidFill>
                <a:latin typeface="Malgun Gothic"/>
              </a:rPr>
              <a:t>실측 기반 역산 결과, 제너의 등가 누설저항은 약 20~30MΩ 수준으로 추정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→ 미터치 시 이상적으로는 5V 근처가 나와야 하나, 실제로는 제너 누설 때문에</a:t>
            </a:r>
          </a:p>
          <a:p>
            <a:pPr marL="457200" indent="-177800">
              <a:lnSpc>
                <a:spcPct val="115000"/>
              </a:lnSpc>
              <a:spcAft>
                <a:spcPts val="800"/>
              </a:spcAft>
              <a:buClr>
                <a:srgbClr val="8A93A0"/>
              </a:buClr>
              <a:buFont typeface="Arial"/>
              <a:buChar char="·"/>
            </a:pPr>
            <a:r>
              <a:rPr sz="1250" b="0">
                <a:solidFill>
                  <a:srgbClr val="333A42"/>
                </a:solidFill>
                <a:latin typeface="Malgun Gothic"/>
              </a:rPr>
              <a:t>3V 대 초반까지 낮아지는 현상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미터치 전압 비교 (실측)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55080" y="1691640"/>
          <a:ext cx="5303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737360"/>
                <a:gridCol w="1463040"/>
              </a:tblGrid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조건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미터치 전압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판정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이상적(무손실)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≈ 5.0V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8E5A"/>
                          </a:solidFill>
                          <a:latin typeface="Malgun Gothic"/>
                        </a:rPr>
                        <a:t>기준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제너 제거 (R13=8.2M)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3.73~3.78V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8E5A"/>
                          </a:solidFill>
                          <a:latin typeface="Malgun Gothic"/>
                        </a:rPr>
                        <a:t>양호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제너 장착 (R13=8.2M)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2.7~3.05V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algun Gothic"/>
                        </a:rPr>
                        <a:t>마진 협소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355080" y="3703320"/>
            <a:ext cx="5303520" cy="260604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0392B"/>
                </a:solidFill>
                <a:latin typeface="Malgun Gothic"/>
              </a:rPr>
              <a:t>검토했던 대체 부품 결론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250" b="1">
                <a:solidFill>
                  <a:srgbClr val="1E8E5A"/>
                </a:solidFill>
                <a:latin typeface="Malgun Gothic"/>
              </a:rPr>
              <a:t>onsemi ESD5Z5.0T1G (SOD-523) — 저누설(≈50nA) 확인, 유력 후보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250" b="1">
                <a:solidFill>
                  <a:srgbClr val="333A42"/>
                </a:solidFill>
                <a:latin typeface="Malgun Gothic"/>
              </a:rPr>
              <a:t>SOD-123 풋프린트 유지 조건에서는 업계 전반에 저누설 ESD 부품 자체가 없음(onsemi/Nexperia/Vishay 공통)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250" b="1">
                <a:solidFill>
                  <a:srgbClr val="C0392B"/>
                </a:solidFill>
                <a:latin typeface="Malgun Gothic"/>
              </a:rPr>
              <a:t>Littelfuse SZSMFxxA — 누설 400µA로 부적합(전원용 서지 TVS, 클램프전압도 과다)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250" b="1">
                <a:solidFill>
                  <a:srgbClr val="0F2B46"/>
                </a:solidFill>
                <a:latin typeface="Malgun Gothic"/>
              </a:rPr>
              <a:t>→ 부품교체는 SOD-523 패키지 변경(리워크) 전제, 우선순위는 SW 튜닝 후 재검토로 결정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ROOT CAUSE 2 / SW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ADC 정착시간(Settling)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5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왜 발생하는가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5577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채널0(터치),1(온도),2(배터리)를 연속스캔 라운드로빈으로 쉬지 않고 순환 변환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R13+R12+R11 ≈ 8.21MΩ 소스 임피던스 vs 기생 커패시턴스(10~20pF)</a:t>
            </a:r>
          </a:p>
          <a:p>
            <a:pPr marL="457200" indent="-177800">
              <a:lnSpc>
                <a:spcPct val="115000"/>
              </a:lnSpc>
              <a:spcAft>
                <a:spcPts val="800"/>
              </a:spcAft>
              <a:buClr>
                <a:srgbClr val="8A93A0"/>
              </a:buClr>
              <a:buFont typeface="Arial"/>
              <a:buChar char="·"/>
            </a:pPr>
            <a:r>
              <a:rPr sz="1250" b="0">
                <a:solidFill>
                  <a:srgbClr val="333A42"/>
                </a:solidFill>
                <a:latin typeface="Malgun Gothic"/>
              </a:rPr>
              <a:t>RC 시정수 τ ≈ 82~160µs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그런데 실제 확보되는 샘플링(acquisition) 시간은 수백 ns 수준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C0392B"/>
                </a:solidFill>
                <a:latin typeface="Malgun Gothic"/>
              </a:rPr>
              <a:t>→ S/H 커패시터가 매번 '덜 충전된' 상태로 변환 종료 → 실제보다 낮게 판독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검증 — 사전대기 시간 스윕 테스트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4572000"/>
          <a:ext cx="557784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737360"/>
                <a:gridCol w="201168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사전대기(precharge)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판독 전압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해석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200µs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3.7V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-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2000µs (10배)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3.8V (+0.1V)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78A0A"/>
                          </a:solidFill>
                          <a:latin typeface="Malgun Gothic"/>
                        </a:rPr>
                        <a:t>거의 변화 없음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적용한 개선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691640"/>
            <a:ext cx="5303520" cy="2331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void taskAI_ADC0_Touch(void)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  // 채널0만 싱글모드로 분리 (다른 채널 간섭 차단)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  ADC-&gt;ADCR = SINGLE | ... ;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  ADC-&gt;ADCHER = ch0 only;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  CLK_SysTickDelay(200);      // 사전 충전 대기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  for (i=0; i&lt;4; i++) {       // 동일채널 연속 재변환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     ... 변환 ...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     result = ADDR[0];        // 마지막 값만 채택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  }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  i32ConversionData[0] = result;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  ADC_InitContinuousScan();   // 다른 채널용 복귀</a:t>
            </a:r>
          </a:p>
          <a:p>
            <a:pPr>
              <a:lnSpc>
                <a:spcPct val="110000"/>
              </a:lnSpc>
            </a:pPr>
            <a:r>
              <a:rPr sz="105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4206240"/>
            <a:ext cx="5303520" cy="17373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3434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B46"/>
                </a:solidFill>
                <a:latin typeface="Malgun Gothic"/>
              </a:rPr>
              <a:t>결론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681728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A42"/>
                </a:solidFill>
                <a:latin typeface="Malgun Gothic"/>
              </a:rPr>
              <a:t>정착시간 개선만으로는 10배 지연에도 0.1V밖에 안 올라 한계 확인 → 남은 전압 갭(≈1.2V)의 실제 지배 요인은 제너 누설전류(하드웨어)로 결론.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R13 값별 실측 — 트레이드오프 발견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6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A636E"/>
                </a:solidFill>
                <a:latin typeface="Malgun Gothic"/>
              </a:rPr>
              <a:t>제너 장착 보드에서 R13을 낮춰 누설 영향을 줄이는 시도 — 그러나 예상과 다른 트레이드오프 확인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783080"/>
          <a:ext cx="11155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  <a:gridCol w="2468880"/>
                <a:gridCol w="2377440"/>
                <a:gridCol w="2011680"/>
              </a:tblGrid>
              <a:tr h="5257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R13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미터치 전압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마른손 터치 범위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베이스라인-터치 분리폭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판정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2.35M (8.2M∥3.3M)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3.17V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2.90~3.40V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0.27V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Malgun Gothic"/>
                        </a:rPr>
                        <a:t>디바운스 실패(2샘플)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4.1M (8.2M×2∥)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3.05V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1.82~3.34V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1.23V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C78A0A"/>
                          </a:solidFill>
                          <a:latin typeface="Malgun Gothic"/>
                        </a:rPr>
                        <a:t>디바운스 실패(8샘플)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8.2M (단독)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3.00~3.01V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0.86~1.68V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1.32V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8E5A"/>
                          </a:solidFill>
                          <a:latin typeface="Malgun Gothic"/>
                        </a:rPr>
                        <a:t>전샘플 통과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0520"/>
            <a:ext cx="5394960" cy="210312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78A0A"/>
                </a:solidFill>
                <a:latin typeface="Malgun Gothic"/>
              </a:rPr>
              <a:t>핵심 발견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A42"/>
                </a:solidFill>
                <a:latin typeface="Malgun Gothic"/>
              </a:rPr>
              <a:t>R13을 낮추면 베이스라인 마진은 좋아지지만, 터치 시 전압 하강폭(분리폭)도 함께 줄어든다.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A42"/>
                </a:solidFill>
                <a:latin typeface="Malgun Gothic"/>
              </a:rPr>
              <a:t>"베이스라인 안정성"과 "터치 감도"는 R13 하나로 동시에 해결할 수 없는 반비례 관계.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4160520"/>
            <a:ext cx="5486400" cy="2103120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8E5A"/>
                </a:solidFill>
                <a:latin typeface="Malgun Gothic"/>
              </a:rPr>
              <a:t>채택안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A42"/>
                </a:solidFill>
                <a:latin typeface="Malgun Gothic"/>
              </a:rPr>
              <a:t>R13 = 8.2M 단독(원래 값) 유지 확정.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A42"/>
                </a:solidFill>
                <a:latin typeface="Malgun Gothic"/>
              </a:rPr>
              <a:t>베이스라인과 터치신호 사이 넓은 공백(≈1000카운트)이 생기므로,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333A42"/>
                </a:solidFill>
                <a:latin typeface="Malgun Gothic"/>
              </a:rPr>
              <a:t>부품 교체 없이 소프트웨어 임계값 재조정으로 해결 방향 설정.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IMPROVEMENT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임계값 실측 기반 재조정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7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R13=8.2M(제너 장착) 실측 분포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1088136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6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68428" y="2057400"/>
            <a:ext cx="2635973" cy="9144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8428" y="2999232"/>
            <a:ext cx="3184613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E8E5A"/>
                </a:solidFill>
                <a:latin typeface="Malgun Gothic"/>
              </a:rPr>
              <a:t>터치 범위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4121" y="2057400"/>
            <a:ext cx="73152" cy="9144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8633" y="2999232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2B46"/>
                </a:solidFill>
                <a:latin typeface="Malgun Gothic"/>
              </a:rPr>
              <a:t>미터치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32586" y="1719072"/>
            <a:ext cx="27432" cy="160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1942" y="1463040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C0392B"/>
                </a:solidFill>
                <a:latin typeface="Malgun Gothic"/>
              </a:rPr>
              <a:t>임계값 2.3V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36E"/>
                </a:solidFill>
                <a:latin typeface="Malgun Gothic"/>
              </a:rPr>
              <a:t>0V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324612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36E"/>
                </a:solidFill>
                <a:latin typeface="Malgun Gothic"/>
              </a:rPr>
              <a:t>5V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370332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  <a:gridCol w="411480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새 임계값(2.3V / 1884) 대비 마진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미터치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2458~2466 (3.00~3.01V)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8E5A"/>
                          </a:solidFill>
                          <a:latin typeface="Malgun Gothic"/>
                        </a:rPr>
                        <a:t>+0.70V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마른손 터치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707~1379 (0.86~1.68V)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8E5A"/>
                          </a:solidFill>
                          <a:latin typeface="Malgun Gothic"/>
                        </a:rPr>
                        <a:t>-0.62V ~ -1.44V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젖은손 터치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333A42"/>
                          </a:solidFill>
                          <a:latin typeface="Malgun Gothic"/>
                        </a:rPr>
                        <a:t>387~415 (0.47~0.51V)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8E5A"/>
                          </a:solidFill>
                          <a:latin typeface="Malgun Gothic"/>
                        </a:rPr>
                        <a:t>-1.47V ~ -1.50V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640080" y="5349240"/>
            <a:ext cx="10881360" cy="73152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8640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2B46"/>
                </a:solidFill>
                <a:latin typeface="Malgun Gothic"/>
              </a:rPr>
              <a:t>임계값을 3.0V → 2.3V로 하향 조정 (main.c:1763). 양방향 0.6V 이상의 건강한 마진 확보.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IMPROVEMENT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디바운스 알고리즘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8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문제: 짧게 끊기는 접촉 패턴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A42"/>
                </a:solidFill>
                <a:latin typeface="Malgun Gothic"/>
              </a:rPr>
              <a:t>5회 반복 재현 테스트 결과, 연속으로 임계값 이하가 유지되는 길이가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A42"/>
                </a:solidFill>
                <a:latin typeface="Malgun Gothic"/>
              </a:rPr>
              <a:t>3~10샘플로 들쭉날쭉 — 기존 "연속 N샘플" 방식은 이런 조각난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333A42"/>
                </a:solidFill>
                <a:latin typeface="Malgun Gothic"/>
              </a:rPr>
              <a:t>접촉을 자주 놓침.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260604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237744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회차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연속 통과 샘플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algun Gothic"/>
                        </a:rPr>
                        <a:t>기존 판정(연속6개 필요)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6개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78A0A"/>
                          </a:solidFill>
                          <a:latin typeface="Malgun Gothic"/>
                        </a:rPr>
                        <a:t>경계선 통과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10개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E8E5A"/>
                          </a:solidFill>
                          <a:latin typeface="Malgun Gothic"/>
                        </a:rPr>
                        <a:t>통과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3개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Malgun Gothic"/>
                        </a:rPr>
                        <a:t>실패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5개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Malgun Gothic"/>
                        </a:rPr>
                        <a:t>실패(1개 차이)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4~5개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Malgun Gothic"/>
                        </a:rPr>
                        <a:t>실패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55080" y="12801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개선: 연속 → 윈도우 누적 카운트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45920"/>
            <a:ext cx="5303520" cy="21488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// 50샘플 윈도우 동안 연속 여부와 무관하게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// Connect 샘플 개수만 누적, 윈도우 종료 시 1회 판정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#define TOUCH_ON_MIN_COUNT   6   // 누적 ≥6 → ON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#define TOUCH_OFF_MAX_COUNT  2   // 누적 ≤2 → OFF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                                  // 3~5개: 이전 상태 유지(히스테리시스)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977639"/>
            <a:ext cx="5303520" cy="2103120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8E5A"/>
                </a:solidFill>
                <a:latin typeface="Malgun Gothic"/>
              </a:rPr>
              <a:t>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8056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250" b="1">
                <a:solidFill>
                  <a:srgbClr val="333A42"/>
                </a:solidFill>
                <a:latin typeface="Malgun Gothic"/>
              </a:rPr>
              <a:t>접촉이 중간에 끊겨도 총 개수만 채우면 인식 → 4회차/5회차 같은 실패 케이스도 구제 가능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250" b="1">
                <a:solidFill>
                  <a:srgbClr val="333A42"/>
                </a:solidFill>
                <a:latin typeface="Malgun Gothic"/>
              </a:rPr>
              <a:t>히스테리시스 구간(3~5개)으로 채터링 방지 유지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IMPROVEMENT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버그 수정 및 진단 도구 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9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버그: 파워온 안전잠금 시간 절반 단축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333A42"/>
                </a:solidFill>
                <a:latin typeface="Malgun Gothic"/>
              </a:rPr>
              <a:t>동일한 rPowerOnCnt 감소 블록이 함수 내 2곳에 중복 존재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333A42"/>
                </a:solidFill>
                <a:latin typeface="Malgun Gothic"/>
              </a:rPr>
              <a:t>1ms마다 카운트가 1이 아닌 2씩 감소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C0392B"/>
                </a:solidFill>
                <a:latin typeface="Malgun Gothic"/>
              </a:rPr>
              <a:t>설계 의도: 파워온 후 500ms 모터 잠금 → 실제로는 약 250ms만 적용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1E8E5A"/>
                </a:solidFill>
                <a:latin typeface="Malgun Gothic"/>
              </a:rPr>
              <a:t>중복 블록 제거 → 500ms 정상 복원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31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안전성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8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333A42"/>
                </a:solidFill>
                <a:latin typeface="Malgun Gothic"/>
              </a:rPr>
              <a:t>main() 최초 실행부터 while(1) 루프 진입까지 MOTOR_OFF 3중 재확인 경로 확인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333A42"/>
                </a:solidFill>
                <a:latin typeface="Malgun Gothic"/>
              </a:rPr>
              <a:t>모터 구동 ISR(TMR1)이 잠금 플래그보다 먼저 시작될 수 없도록 순서 검증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1E8E5A"/>
                </a:solidFill>
                <a:latin typeface="Malgun Gothic"/>
              </a:rPr>
              <a:t>→ 파워온 구간 모터 오동작 가능성 없음을 코드 추적으로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진단 도구: g_TouchADCLog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691640"/>
            <a:ext cx="5303520" cy="1554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#define TOUCH_ADC_LOG_SIZE 20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volatile uint32_t g_TouchADCLog[20];   // 순환버퍼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volatile uint32_t g_TouchADCLogIdx;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// task_MotorCtrl() 내부에서 매 샘플 기록</a:t>
            </a:r>
          </a:p>
          <a:p>
            <a:pPr>
              <a:lnSpc>
                <a:spcPct val="110000"/>
              </a:lnSpc>
            </a:pPr>
            <a:r>
              <a:rPr sz="1150">
                <a:solidFill>
                  <a:srgbClr val="D4D4D4"/>
                </a:solidFill>
                <a:latin typeface="Consolas"/>
              </a:rPr>
              <a:t>g_TouchADCLog[g_TouchADCLogIdx] = rTouchADC;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429000"/>
            <a:ext cx="5303520" cy="26517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B46"/>
                </a:solidFill>
                <a:latin typeface="Malgun Gothic"/>
              </a:rPr>
              <a:t>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3192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333A42"/>
                </a:solidFill>
                <a:latin typeface="Malgun Gothic"/>
              </a:rPr>
              <a:t>디버거 Watch창에서 최근 20개 원시 ADC 값 즉시 확인 가능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333A42"/>
                </a:solidFill>
                <a:latin typeface="Malgun Gothic"/>
              </a:rPr>
              <a:t>no touch / 마른손 / 젖은손 등 조건별 반복 재현성 테스트에 활용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333A42"/>
                </a:solidFill>
                <a:latin typeface="Malgun Gothic"/>
              </a:rPr>
              <a:t>이번 보고서의 모든 실측 데이터가 이 도구로 수집됨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Before / After 종합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10 / 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4480560"/>
              </a:tblGrid>
              <a:tr h="56007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Before (P_WISTEC_HAIR_BRUSH_V10)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After (P_Wistec_HairBrush_V10)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ADC 변환 방식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매 1ms 블로킹 단발변환, 정착시간 미고려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E8E5A"/>
                          </a:solidFill>
                          <a:latin typeface="Malgun Gothic"/>
                        </a:rPr>
                        <a:t>채널 분리+사전대기+재변환으로 정착 개선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터치 체크 구간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항상(노이즈 구간과 겹침)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E8E5A"/>
                          </a:solidFill>
                          <a:latin typeface="Malgun Gothic"/>
                        </a:rPr>
                        <a:t>50ms/1000ms 전용 윈도우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임계값 로직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1V~2V 데드존 버그 존재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E8E5A"/>
                          </a:solidFill>
                          <a:latin typeface="Malgun Gothic"/>
                        </a:rPr>
                        <a:t>단일 임계값(2.3V), 실측 기반 재조정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디바운스 방식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연속 카운트(rTouchChattering 9/12/0)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E8E5A"/>
                          </a:solidFill>
                          <a:latin typeface="Malgun Gothic"/>
                        </a:rPr>
                        <a:t>윈도우 누적 카운트(ON≥6/OFF≤2)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파워온 안전잠금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500ms (정상)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E8E5A"/>
                          </a:solidFill>
                          <a:latin typeface="Malgun Gothic"/>
                        </a:rPr>
                        <a:t>500ms (이식 과정 중 발견된 이중감소 버그 수정으로 유지)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진단 도구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없음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E8E5A"/>
                          </a:solidFill>
                          <a:latin typeface="Malgun Gothic"/>
                        </a:rPr>
                        <a:t>g_TouchADCLog 20샘플 순환버퍼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보호소자(DZ11) 검토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미검토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78A0A"/>
                          </a:solidFill>
                          <a:latin typeface="Malgun Gothic"/>
                        </a:rPr>
                        <a:t>SOD-523 저누설 대체품 후보 확보(교체는 보류)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COMPONENT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보호소자(DZ11) 대체 검토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11 / 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7160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11680"/>
                <a:gridCol w="2560320"/>
                <a:gridCol w="29260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후보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패키지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역누설전류(IR)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적합성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DZ11 (BZT52C5V1, 현재품)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SOD-123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추정 수십~수백 nA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78A0A"/>
                          </a:solidFill>
                          <a:latin typeface="Malgun Gothic"/>
                        </a:rPr>
                        <a:t>기존 사용중 - 마진 부족 원인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onsemi ESD5Z5.0T1G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SOD-523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≈ 0.05µA (50nA)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1E8E5A"/>
                          </a:solidFill>
                          <a:latin typeface="Malgun Gothic"/>
                        </a:rPr>
                        <a:t>유력 후보 (풋프린트 변경 필요)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Littelfuse SZSMFxxA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SOD-123FL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400µA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Malgun Gothic"/>
                        </a:rPr>
                        <a:t>부적합 - 전원용 서지TVS, 클램프전압도 과다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onsemi MMSZ 시리즈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SOD-123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333A42"/>
                          </a:solidFill>
                          <a:latin typeface="Malgun Gothic"/>
                        </a:rPr>
                        <a:t>수 µA대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Malgun Gothic"/>
                        </a:rPr>
                        <a:t>일반 제너와 동급 - 개선효과 없음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023360"/>
            <a:ext cx="11155680" cy="219456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78A0A"/>
                </a:solidFill>
                <a:latin typeface="Malgun Gothic"/>
              </a:rPr>
              <a:t>결론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333A42"/>
                </a:solidFill>
                <a:latin typeface="Malgun Gothic"/>
              </a:rPr>
              <a:t>SOD-123 풋프린트를 유지하는 한, 시장에 '저누설 + 신호선용 ESD' 조합 부품이 사실상 없음(3사 공통 확인)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333A42"/>
                </a:solidFill>
                <a:latin typeface="Malgun Gothic"/>
              </a:rPr>
              <a:t>SOD-523로 패키지 변경 시 onsemi ESD5Z5.0T1G가 유력 — 리워크(패드 변경) 필요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00" b="1">
                <a:solidFill>
                  <a:srgbClr val="1E8E5A"/>
                </a:solidFill>
                <a:latin typeface="Malgun Gothic"/>
              </a:rPr>
              <a:t>현재는 SW 튜닝(R13=8.2M 유지 + 임계값/디바운스 재조정)으로 실사용 가능한 수준까지 개선 — 부품교체는 플랜 B로 보류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REUSABILITY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타 프로젝트(NUC029 계열) 이식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12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8E5A"/>
                </a:solidFill>
                <a:latin typeface="Malgun Gothic"/>
              </a:rPr>
              <a:t>그대로 재사용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ADC 정착시간 개선 로직 (싱글모드 전환+사전대기+재변환 패턴)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g_TouchADCLog류 디버그 순환버퍼 구조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윈도우 누적 카운트 디바운스 알고리즘 구조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NUC029 계열 공통이면 ADC 레지스터 코드 대부분 그대로 사용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0392B"/>
                </a:solidFill>
                <a:latin typeface="Malgun Gothic"/>
              </a:rPr>
              <a:t>프로젝트별 재측정 필수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53035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판정 임계값 — R13/보호소자/5V 레일 특성에 따라 매번 다름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사전대기(precharge)/재변환 횟수 — 새 회로의 RC 시정수에 맞춰 재조정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디바운스 ON/OFF 카운트, 윈도우 크기 — 실제 접촉 신호 패턴에 맞춰 튜닝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ADC 채널번호, 다른 채널 마스크값 — 새 프로젝트 채널 구성에 맞춰 수정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350" b="1">
                <a:solidFill>
                  <a:srgbClr val="333A42"/>
                </a:solidFill>
                <a:latin typeface="Malgun Gothic"/>
              </a:rPr>
              <a:t>R13 값/보호소자 — 새 보드 회로도 재검토 필요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34840"/>
            <a:ext cx="11155680" cy="173736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2B46"/>
                </a:solidFill>
                <a:latin typeface="Malgun Gothic"/>
              </a:rPr>
              <a:t>권장 프로세스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698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33A42"/>
                </a:solidFill>
                <a:latin typeface="Malgun Gothic"/>
              </a:rPr>
              <a:t>① 코드 이식(채널/마스크 수정) → ② no touch/터치 반복 캡처로 실측 분포 확보 → ③ 사전대기 스윕(예: 200µs vs 2000µs)으로 정착시간 vs 누설 원인 구분 → ④ 실측 분포 중간값으로 임계값·디바운스 파라미터 산정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DC3E6"/>
                </a:solidFill>
                <a:latin typeface="Malgun Gothic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5156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결론 및 향후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38404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6E9BC7"/>
                </a:solidFill>
                <a:latin typeface="Malgun Gothic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HAIR-BRUSH 터치 센싱 개선 보고서  |  2026-09-15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A636E"/>
                </a:solidFill>
                <a:latin typeface="Malgun Gothic"/>
              </a:rPr>
              <a:t>13 /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8E5A"/>
                </a:solidFill>
                <a:latin typeface="Malgun Gothic"/>
              </a:rPr>
              <a:t>완료 항목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9164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5360"/>
                <a:gridCol w="25603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</a:rPr>
                        <a:t>상태</a:t>
                      </a:r>
                    </a:p>
                  </a:txBody>
                  <a:tcPr anchor="ctr" marL="76200" marR="76200" marT="38100" marB="38100">
                    <a:solidFill>
                      <a:srgbClr val="0F2B4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333A42"/>
                          </a:solidFill>
                          <a:latin typeface="Malgun Gothic"/>
                        </a:rPr>
                        <a:t>ADC 정착시간 개선 (taskAI_ADC0_Touch)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E8E5A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333A42"/>
                          </a:solidFill>
                          <a:latin typeface="Malgun Gothic"/>
                        </a:rPr>
                        <a:t>임계값 실측 기반 재조정 (2.3V)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E8E5A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333A42"/>
                          </a:solidFill>
                          <a:latin typeface="Malgun Gothic"/>
                        </a:rPr>
                        <a:t>파워온 안전잠금 500ms 복원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E8E5A"/>
                          </a:solidFill>
                          <a:latin typeface="Malgun Gothic"/>
                        </a:rPr>
                        <a:t>완료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50" b="0">
                          <a:solidFill>
                            <a:srgbClr val="333A42"/>
                          </a:solidFill>
                          <a:latin typeface="Malgun Gothic"/>
                        </a:rPr>
                        <a:t>디바운스 알고리즘 개선 (윈도우 누적)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>
                          <a:solidFill>
                            <a:srgbClr val="1E8E5A"/>
                          </a:solidFill>
                          <a:latin typeface="Malgun Gothic"/>
                        </a:rPr>
                        <a:t>완료 - 재검증 진행중</a:t>
                      </a:r>
                    </a:p>
                  </a:txBody>
                  <a:tcPr anchor="ctr" marL="76200" marR="76200" marT="38100" marB="38100"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38404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B46"/>
                </a:solidFill>
                <a:latin typeface="Malgun Gothic"/>
              </a:rPr>
              <a:t>향후 계획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400" b="1">
                <a:solidFill>
                  <a:srgbClr val="333A42"/>
                </a:solidFill>
                <a:latin typeface="Malgun Gothic"/>
              </a:rPr>
              <a:t>윈도우 누적 카운트 디바운스 재검증 — no touch/마른손/젖은손 반복 캡처로 파라미터(ON≥6/OFF≤2) 최종 확정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400" b="1">
                <a:solidFill>
                  <a:srgbClr val="333A42"/>
                </a:solidFill>
                <a:latin typeface="Malgun Gothic"/>
              </a:rPr>
              <a:t>다수 사용자(개체차) 대상 현장 테스트로 일반화 검증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400" b="1">
                <a:solidFill>
                  <a:srgbClr val="333A42"/>
                </a:solidFill>
                <a:latin typeface="Malgun Gothic"/>
              </a:rPr>
              <a:t>SW 튜닝으로 불충분할 경우, onsemi ESD5Z5.0T1G(SOD-523) 부품 교체를 플랜 B로 진행</a:t>
            </a:r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Clr>
                <a:srgbClr val="1F6FB2"/>
              </a:buClr>
              <a:buFont typeface="Arial"/>
              <a:buChar char="■"/>
            </a:pPr>
            <a:r>
              <a:rPr sz="1400" b="1">
                <a:solidFill>
                  <a:srgbClr val="333A42"/>
                </a:solidFill>
                <a:latin typeface="Malgun Gothic"/>
              </a:rPr>
              <a:t>타 NUC029 프로젝트 이식 시 본 자료의 재사용/재측정 가이드(Slide 12) 적용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89320"/>
            <a:ext cx="11155680" cy="18288"/>
          </a:xfrm>
          <a:prstGeom prst="rect">
            <a:avLst/>
          </a:prstGeom>
          <a:solidFill>
            <a:srgbClr val="D6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